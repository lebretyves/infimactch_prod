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Intervenant A - 45 secondes.</a:t>
            </a:r>
          </a:p>
          <a:p>
            <a:r>
              <a:t>Ouvrir par une situation illustrative, sans la présenter comme un entretien réel. Annoncer le fil : problème, solution, démonstration, preuves et limites. InfiMatch ne remplace pas l’employeur.</a:t>
            </a:r>
          </a:p>
          <a:p>
            <a:r>
              <a:t>Voir 05_ETUDE_DE_MARCHE.md pour les sources et 07_PITCH_ORAL.md pour le scénario de secours.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Intervenant A - 60 secondes.</a:t>
            </a:r>
          </a:p>
          <a:p>
            <a:r>
              <a:t>Source : DREES, Études et Résultats 1319, décembre 2024. https://www.drees.solidarites-sante.gouv.fr/sites/default/files/2024-12/ER1319_0.pdf . Ce chiffre ne mesure ni les intérimaires ni les clients adressables. Les irritants de coordination sont des hypothèses à valider.</a:t>
            </a:r>
          </a:p>
          <a:p>
            <a:r>
              <a:t>Voir 05_ETUDE_DE_MARCHE.md pour les sources et 07_PITCH_ORAL.md pour le scénario de secours.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Intervenant A - 60 secondes.</a:t>
            </a:r>
          </a:p>
          <a:p>
            <a:r>
              <a:t>Sources primaires : https://hublo.com/fr ; https://www.appelmedical.com/ ; https://www.staffsante.fr/ . Lecture des offres publiques au 23/09/2026, pas audit concurrent. Ne pas affirmer qu’ils n’ont pas une fonction. Abonnement B2B et accès candidat gratuit restent des hypothèses.</a:t>
            </a:r>
          </a:p>
          <a:p>
            <a:r>
              <a:t>Voir 05_ETUDE_DE_MARCHE.md pour les sources et 07_PITCH_ORAL.md pour le scénario de secours.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Intervenant C - 60 secondes.</a:t>
            </a:r>
          </a:p>
          <a:p>
            <a:r>
              <a:t>Présenter brièvement les rôles et les contrôles d’accès. Souligner que disponibilité, qualification et décision sont distinctes. Le mode RPPS facultatif est réservé à la démonstration configurée.</a:t>
            </a:r>
          </a:p>
          <a:p>
            <a:r>
              <a:t>Voir 05_ETUDE_DE_MARCHE.md pour les sources et 07_PITCH_ORAL.md pour le scénario de secours.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Intervenant C - 180 secondes.</a:t>
            </a:r>
          </a:p>
          <a:p>
            <a:r>
              <a:t>Répéter sur l’environnement de démonstration. Ne pas notifier un utilisateur réel. Garder des onglets préparés. Si le service est indisponible : expliquer l’incident et montrer les preuves datées ainsi que le rendu Discord, sans prétendre à une exécution en direct réussie.</a:t>
            </a:r>
          </a:p>
          <a:p>
            <a:r>
              <a:t>Voir 05_ETUDE_DE_MARCHE.md pour les sources et 07_PITCH_ORAL.md pour le scénario de secours.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Intervenant B - 75 secondes.</a:t>
            </a:r>
          </a:p>
          <a:p>
            <a:r>
              <a:t>Décrire le chemin d’une candidature dans l’API et la base relationnelle, puis l’événement d’automatisation. Montrer le README et expliquer les profils d’accès. Une base non relationnelle a un usage complémentaire explicite.</a:t>
            </a:r>
          </a:p>
          <a:p>
            <a:r>
              <a:t>Voir 05_ETUDE_DE_MARCHE.md pour les sources et 07_PITCH_ORAL.md pour le scénario de secours.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Intervenant B - 75 secondes.</a:t>
            </a:r>
          </a:p>
          <a:p>
            <a:r>
              <a:t>Source ANS, https://www.data.gouv.fr/datasets/finess-structures-1 ; Licence Ouverte 2.0. Montrer demonstration-finess-resultat.json. La fixture pédagogique est synthétique ; le téléchargement réel est disponible via npm run finess:import. Ne pas confondre cet exemple et un extrait réellement téléchargé.</a:t>
            </a:r>
          </a:p>
          <a:p>
            <a:r>
              <a:t>Voir 05_ETUDE_DE_MARCHE.md pour les sources et 07_PITCH_ORAL.md pour le scénario de secours.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Intervenant B - 60 secondes.</a:t>
            </a:r>
          </a:p>
          <a:p>
            <a:r>
              <a:t>Montrer un JSON et son manifeste. Expliquer qu’un statut actif n’est pas une preuve de réception. Le nœud de reprise porte un ancien nom « 30 minutes » mais son paramètre vaut quatre heures. Les tests isolés ne sont pas des exécutions Cloud.</a:t>
            </a:r>
          </a:p>
          <a:p>
            <a:r>
              <a:t>Voir 05_ETUDE_DE_MARCHE.md pour les sources et 07_PITCH_ORAL.md pour le scénario de secours.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Intervenant D - 60 secondes.</a:t>
            </a:r>
          </a:p>
          <a:p>
            <a:r>
              <a:t>Preuves : docs/proofs/review-20260924/. Tests isolés et API simulées pour les parcours navigateur. Le test de sécurité a été adapté au nouveau filtrage des candidats ayant déjà postulé et fait l’objet d’une relance séparée. Pas de preuve de déploiement ou de réception email déduite de ces tests.</a:t>
            </a:r>
          </a:p>
          <a:p>
            <a:r>
              <a:t>Voir 05_ETUDE_DE_MARCHE.md pour les sources et 07_PITCH_ORAL.md pour le scénario de secours.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Intervenant D - 75 secondes.</a:t>
            </a:r>
          </a:p>
          <a:p>
            <a:r>
              <a:t>Références : docs/quality/OPTIMISATION_MATCHING_2026-09-20.md et CORRECTIONS_AUDIT_2026-09-23.md. Le gain de volume JSON mesuré sur un cas n’est pas une mesure de CO2 ni une facture réseau. Ne pas revendiquer de conformité globale RGAA/RGESN. Les PDF ne sont pas des contrats complets signés.</a:t>
            </a:r>
          </a:p>
          <a:p>
            <a:r>
              <a:t>Voir 05_ETUDE_DE_MARCHE.md pour les sources et 07_PITCH_ORAL.md pour le scénario de secours.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Intervenant D - 75 secondes.</a:t>
            </a:r>
          </a:p>
          <a:p>
            <a:r>
              <a:t>Déclaration équipe : 4 × 11 × (7 + environ 2) = 396 h, 99 par personne. APEC : 41 000 EUR brut/an, taux 41 000/1 820 = 22,52747 EUR/h. Charges patronales hypothétiques +42 %, pas un taux officiel. Matériel : 4 × 2 000 EUR, amorti sur trois ans et affecté 11/220 jours par an = 133,33 EUR. Les 8 000 EUR d’achat ne sont pas additionnés à l’amortissement. Le total économique 12 800,98 EUR exclut les abonnements historiques inconnus et éventuelles majorations du soir. Voir 09_COUTS_PRODUCTION.md.</a:t>
            </a:r>
          </a:p>
          <a:p>
            <a:r>
              <a:t>Voir 05_ETUDE_DE_MARCHE.md pour les sources et 07_PITCH_ORAL.md pour le scénario de secours.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Intervenant D - 45 secondes.</a:t>
            </a:r>
          </a:p>
          <a:p>
            <a:r>
              <a:t>Services : Vercel20, Supabase25, Atlas58,40, n8n50, SMTP2GO10, JobsPipe49, GitHub16 et provisions36,67 EUR. USD converti conventionnellement à parité, pas au cours constaté. n8n payé annuellement. Charges employeur supposées +42 % sur 41 000 EUR brut/an. Poste 2 000 EUR/36mois. Coût moyen, pas marginal. Hypothèse n8n : (300 tâches de fond + 8 exécutions par validation) ×1,1, soit 9 130 à 1 000 validations. À 80 % de conversion, le quota est dépassé. Sources et exclusions : 09_COUTS_PRODUCTION.md.</a:t>
            </a:r>
          </a:p>
          <a:p>
            <a:r>
              <a:t>Voir 05_ETUDE_DE_MARCHE.md pour les sources et 07_PITCH_ORAL.md pour le scénario de secours.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Intervenant D - 30 secondes.</a:t>
            </a:r>
          </a:p>
          <a:p>
            <a:r>
              <a:t>Conclure sur la proposition de valeur, puis ouvrir les questions. Les entretiens et partenariats ne sont pas acquis. Supabase/PostGIS attend le support ; DNS local inchangé. Le coffre local a été réparé. Montrer que les réserves sont connues et suivies. Total déclaré : environ 396 h ; ventilation à compléter.</a:t>
            </a:r>
          </a:p>
          <a:p>
            <a:r>
              <a:t>Voir 05_ETUDE_DE_MARCHE.md pour les sources et 07_PITCH_ORAL.md pour le scénario de secours.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04800"/>
            <a:ext cx="3048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082F49"/>
                </a:solidFill>
                <a:latin typeface="Arial"/>
              </a:defRPr>
            </a:pPr>
            <a:r>
              <a:t>InfiMatch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5000" y="368300"/>
            <a:ext cx="33528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435F72"/>
                </a:solidFill>
                <a:latin typeface="Arial"/>
              </a:defRPr>
            </a:pPr>
            <a:r>
              <a:t>01 / LE BESOIN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016000"/>
            <a:ext cx="10896600" cy="1092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400" b="1">
                <a:solidFill>
                  <a:srgbClr val="082F49"/>
                </a:solidFill>
                <a:latin typeface="Arial"/>
              </a:defRPr>
            </a:pPr>
            <a:r>
              <a:t>Une mission compatible, une décision claire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2070100"/>
            <a:ext cx="10795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435F72"/>
                </a:solidFill>
                <a:latin typeface="Arial"/>
              </a:defRPr>
            </a:pPr>
            <a:r>
              <a:t>InfiMatch • POC étudiant • Trois acteurs, un suivi partagé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90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Une situation concrète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0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Un établissement cherche un infirmier disponible. Le candidat doit comprendre la mission et savoir où en est sa candidature.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11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11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05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Notre réponse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05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Relier infirmier, établissement et agence, de la recherche à la confirmation d’affectation.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159500"/>
            <a:ext cx="10731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435F72"/>
                </a:solidFill>
                <a:latin typeface="Arial"/>
              </a:defRPr>
            </a:pPr>
            <a:r>
              <a:t>Projet étudiant · État documentaire au 24 septembre 2026 · Sources : étude de marché et 09_COUTS_PRODUCTION.md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42600" y="6464300"/>
            <a:ext cx="9525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55EE8"/>
                </a:solidFill>
                <a:latin typeface="Arial"/>
              </a:defRPr>
            </a:pPr>
            <a:r>
              <a:t>01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04800"/>
            <a:ext cx="3048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082F49"/>
                </a:solidFill>
                <a:latin typeface="Arial"/>
              </a:defRPr>
            </a:pPr>
            <a:r>
              <a:t>InfiMatch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5000" y="368300"/>
            <a:ext cx="33528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435F72"/>
                </a:solidFill>
                <a:latin typeface="Arial"/>
              </a:defRPr>
            </a:pPr>
            <a:r>
              <a:t>02 / LE SECTEUR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016000"/>
            <a:ext cx="10896600" cy="1092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400" b="1">
                <a:solidFill>
                  <a:srgbClr val="082F49"/>
                </a:solidFill>
                <a:latin typeface="Arial"/>
              </a:defRPr>
            </a:pPr>
            <a:r>
              <a:t>Un besoin de coordination dans la santé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2070100"/>
            <a:ext cx="10795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435F72"/>
                </a:solidFill>
                <a:latin typeface="Arial"/>
              </a:defRPr>
            </a:pPr>
            <a:r>
              <a:t>Un repère historique documenté, pas une taille de marché inventée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90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599 000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0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Infirmières en emploi en 2021 selon la DREES. L’étude décrit des difficultés de recrutement.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11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11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05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Notre cible initiale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05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Infirmiers IDE, IADE et IBODE ; établissements de santé ; agences spécialisées. Pilote local à construire.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159500"/>
            <a:ext cx="10731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435F72"/>
                </a:solidFill>
                <a:latin typeface="Arial"/>
              </a:defRPr>
            </a:pPr>
            <a:r>
              <a:t>Projet étudiant · État documentaire au 24 septembre 2026 · Sources : étude de marché et 09_COUTS_PRODUCTION.md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42600" y="6464300"/>
            <a:ext cx="9525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55EE8"/>
                </a:solidFill>
                <a:latin typeface="Arial"/>
              </a:defRPr>
            </a:pPr>
            <a: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04800"/>
            <a:ext cx="3048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082F49"/>
                </a:solidFill>
                <a:latin typeface="Arial"/>
              </a:defRPr>
            </a:pPr>
            <a:r>
              <a:t>InfiMatch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5000" y="368300"/>
            <a:ext cx="33528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435F72"/>
                </a:solidFill>
                <a:latin typeface="Arial"/>
              </a:defRPr>
            </a:pPr>
            <a:r>
              <a:t>03 / LE POSITIONNEMENT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016000"/>
            <a:ext cx="10896600" cy="1092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400" b="1">
                <a:solidFill>
                  <a:srgbClr val="082F49"/>
                </a:solidFill>
                <a:latin typeface="Arial"/>
              </a:defRPr>
            </a:pPr>
            <a:r>
              <a:t>Le marché existe déjà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2070100"/>
            <a:ext cx="10795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435F72"/>
                </a:solidFill>
                <a:latin typeface="Arial"/>
              </a:defRPr>
            </a:pPr>
            <a:r>
              <a:t>Différenciation proposée : explication et coordination entre trois acteurs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90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Acteurs observés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0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Hublo : RH et remplacements. Appel Médical : recrutement spécialisé. Staffsanté : offres et candidatures.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11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11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05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Hypothèse de valeur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05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Une recommandation compréhensible et un état de candidature explicite, jusqu’à la décision humaine.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159500"/>
            <a:ext cx="10731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435F72"/>
                </a:solidFill>
                <a:latin typeface="Arial"/>
              </a:defRPr>
            </a:pPr>
            <a:r>
              <a:t>Projet étudiant · État documentaire au 24 septembre 2026 · Sources : étude de marché et 09_COUTS_PRODUCTION.md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42600" y="6464300"/>
            <a:ext cx="9525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55EE8"/>
                </a:solidFill>
                <a:latin typeface="Arial"/>
              </a:defRPr>
            </a:pPr>
            <a: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04800"/>
            <a:ext cx="3048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082F49"/>
                </a:solidFill>
                <a:latin typeface="Arial"/>
              </a:defRPr>
            </a:pPr>
            <a:r>
              <a:t>InfiMatch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5000" y="368300"/>
            <a:ext cx="33528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435F72"/>
                </a:solidFill>
                <a:latin typeface="Arial"/>
              </a:defRPr>
            </a:pPr>
            <a:r>
              <a:t>04 / LE PRODUIT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016000"/>
            <a:ext cx="10896600" cy="1092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400" b="1">
                <a:solidFill>
                  <a:srgbClr val="082F49"/>
                </a:solidFill>
                <a:latin typeface="Arial"/>
              </a:defRPr>
            </a:pPr>
            <a:r>
              <a:t>Un parcours métier complet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2070100"/>
            <a:ext cx="10795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435F72"/>
                </a:solidFill>
                <a:latin typeface="Arial"/>
              </a:defRPr>
            </a:pPr>
            <a:r>
              <a:t>La candidature ne vaut jamais affectation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90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Côté infirmier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0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Profil, disponibilités et zone. Recherche et explications du matching. Candidature, calendrier et documents.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11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11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05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Côté entreprise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05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Publication, suivi des candidatures, sélection et confirmation. L’agence conserve la décision d’affectation.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159500"/>
            <a:ext cx="10731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435F72"/>
                </a:solidFill>
                <a:latin typeface="Arial"/>
              </a:defRPr>
            </a:pPr>
            <a:r>
              <a:t>Projet étudiant · État documentaire au 24 septembre 2026 · Sources : étude de marché et 09_COUTS_PRODUCTION.md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42600" y="6464300"/>
            <a:ext cx="9525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55EE8"/>
                </a:solidFill>
                <a:latin typeface="Arial"/>
              </a:defRPr>
            </a:pPr>
            <a: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04800"/>
            <a:ext cx="3048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082F49"/>
                </a:solidFill>
                <a:latin typeface="Arial"/>
              </a:defRPr>
            </a:pPr>
            <a:r>
              <a:t>InfiMatch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5000" y="368300"/>
            <a:ext cx="33528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435F72"/>
                </a:solidFill>
                <a:latin typeface="Arial"/>
              </a:defRPr>
            </a:pPr>
            <a:r>
              <a:t>05 / DÉMONSTRATION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016000"/>
            <a:ext cx="10896600" cy="1092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400" b="1">
                <a:solidFill>
                  <a:srgbClr val="082F49"/>
                </a:solidFill>
                <a:latin typeface="Arial"/>
              </a:defRPr>
            </a:pPr>
            <a:r>
              <a:t>Du besoin à la confirmation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2070100"/>
            <a:ext cx="10795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435F72"/>
                </a:solidFill>
                <a:latin typeface="Arial"/>
              </a:defRPr>
            </a:pPr>
            <a:r>
              <a:t>Trois minutes • Comptes et mission fictifs préparés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90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Parcours candidat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0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1. Ouvrir une mission. 2. Montrer les critères et le profil. 3. Candidater et constater l’état en attente.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11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11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05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Parcours recruteur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05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4. Retrouver la candidature. 5. Confirmer dans l’environnement de test. 6. Montrer calendrier, PDF et notification.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159500"/>
            <a:ext cx="10731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435F72"/>
                </a:solidFill>
                <a:latin typeface="Arial"/>
              </a:defRPr>
            </a:pPr>
            <a:r>
              <a:t>Projet étudiant · État documentaire au 24 septembre 2026 · Sources : étude de marché et 09_COUTS_PRODUCTION.md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42600" y="6464300"/>
            <a:ext cx="9525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55EE8"/>
                </a:solidFill>
                <a:latin typeface="Arial"/>
              </a:defRPr>
            </a:pPr>
            <a: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04800"/>
            <a:ext cx="3048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082F49"/>
                </a:solidFill>
                <a:latin typeface="Arial"/>
              </a:defRPr>
            </a:pPr>
            <a:r>
              <a:t>InfiMatch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5000" y="368300"/>
            <a:ext cx="33528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435F72"/>
                </a:solidFill>
                <a:latin typeface="Arial"/>
              </a:defRPr>
            </a:pPr>
            <a:r>
              <a:t>06 / LA TECHNIQUE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016000"/>
            <a:ext cx="10896600" cy="1092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400" b="1">
                <a:solidFill>
                  <a:srgbClr val="082F49"/>
                </a:solidFill>
                <a:latin typeface="Arial"/>
              </a:defRPr>
            </a:pPr>
            <a:r>
              <a:t>Des responsabilités séparées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2070100"/>
            <a:ext cx="10795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435F72"/>
                </a:solidFill>
                <a:latin typeface="Arial"/>
              </a:defRPr>
            </a:pPr>
            <a:r>
              <a:t>Frontend et administration → API → données et orchestrations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90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0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React / TypeScript ; API NestJS. PostgreSQL / PostGIS pour les états et la géographie ; MongoDB pour les explications.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11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11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05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Orchestration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05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n8n coordonne les appels. Les règles métier et permissions restent côté backend. Les secrets ne sont pas dans le dépôt.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159500"/>
            <a:ext cx="10731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435F72"/>
                </a:solidFill>
                <a:latin typeface="Arial"/>
              </a:defRPr>
            </a:pPr>
            <a:r>
              <a:t>Projet étudiant · État documentaire au 24 septembre 2026 · Sources : étude de marché et 09_COUTS_PRODUCTION.md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42600" y="6464300"/>
            <a:ext cx="9525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55EE8"/>
                </a:solidFill>
                <a:latin typeface="Arial"/>
              </a:defRPr>
            </a:pPr>
            <a: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04800"/>
            <a:ext cx="3048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082F49"/>
                </a:solidFill>
                <a:latin typeface="Arial"/>
              </a:defRPr>
            </a:pPr>
            <a:r>
              <a:t>InfiMatch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5000" y="368300"/>
            <a:ext cx="33528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435F72"/>
                </a:solidFill>
                <a:latin typeface="Arial"/>
              </a:defRPr>
            </a:pPr>
            <a:r>
              <a:t>07 / LES DONNÉES PUBLIQUES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016000"/>
            <a:ext cx="10896600" cy="1092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400" b="1">
                <a:solidFill>
                  <a:srgbClr val="082F49"/>
                </a:solidFill>
                <a:latin typeface="Arial"/>
              </a:defRPr>
            </a:pPr>
            <a:r>
              <a:t>FINESS devient une donnée utile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2070100"/>
            <a:ext cx="10795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435F72"/>
                </a:solidFill>
                <a:latin typeface="Arial"/>
              </a:defRPr>
            </a:pPr>
            <a:r>
              <a:t>Télécharger → contrôler → normaliser → rechercher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90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Transformation réelle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0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Identifiants et zéros conservés ; textes nettoyés ; doublons rejetés ; coordonnées ambiguës laissées vides.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11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11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05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Usage visible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05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Recherche d’établissements dans les parcours entreprise. Script avant/après livré, fonction identique à celle du backend.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159500"/>
            <a:ext cx="10731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435F72"/>
                </a:solidFill>
                <a:latin typeface="Arial"/>
              </a:defRPr>
            </a:pPr>
            <a:r>
              <a:t>Projet étudiant · État documentaire au 24 septembre 2026 · Sources : étude de marché et 09_COUTS_PRODUCTION.md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42600" y="6464300"/>
            <a:ext cx="9525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55EE8"/>
                </a:solidFill>
                <a:latin typeface="Arial"/>
              </a:defRPr>
            </a:pPr>
            <a: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04800"/>
            <a:ext cx="3048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082F49"/>
                </a:solidFill>
                <a:latin typeface="Arial"/>
              </a:defRPr>
            </a:pPr>
            <a:r>
              <a:t>InfiMatch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5000" y="368300"/>
            <a:ext cx="33528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435F72"/>
                </a:solidFill>
                <a:latin typeface="Arial"/>
              </a:defRPr>
            </a:pPr>
            <a:r>
              <a:t>08 / LE NOCODE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016000"/>
            <a:ext cx="10896600" cy="1092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400" b="1">
                <a:solidFill>
                  <a:srgbClr val="082F49"/>
                </a:solidFill>
                <a:latin typeface="Arial"/>
              </a:defRPr>
            </a:pPr>
            <a:r>
              <a:t>Des scénarios exportés et traçables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2070100"/>
            <a:ext cx="10795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435F72"/>
                </a:solidFill>
                <a:latin typeface="Arial"/>
              </a:defRPr>
            </a:pPr>
            <a:r>
              <a:t>Neuf versions publiées observées le 23 septembre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90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Deux scénarios à défendre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0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Matching → notification. Affectation confirmée → génération documentaire. Les rappels assurent une reprise.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11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11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05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Import reproductible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05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JSON avec provenance et versions ; credentials à réassocier. Les exports Cloud et les modèles de recette sont distingués.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159500"/>
            <a:ext cx="10731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435F72"/>
                </a:solidFill>
                <a:latin typeface="Arial"/>
              </a:defRPr>
            </a:pPr>
            <a:r>
              <a:t>Projet étudiant · État documentaire au 24 septembre 2026 · Sources : étude de marché et 09_COUTS_PRODUCTION.md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42600" y="6464300"/>
            <a:ext cx="9525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55EE8"/>
                </a:solidFill>
                <a:latin typeface="Arial"/>
              </a:defRPr>
            </a:pPr>
            <a: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04800"/>
            <a:ext cx="3048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082F49"/>
                </a:solidFill>
                <a:latin typeface="Arial"/>
              </a:defRPr>
            </a:pPr>
            <a:r>
              <a:t>InfiMatch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5000" y="368300"/>
            <a:ext cx="33528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435F72"/>
                </a:solidFill>
                <a:latin typeface="Arial"/>
              </a:defRPr>
            </a:pPr>
            <a:r>
              <a:t>09 / LA QUALITÉ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016000"/>
            <a:ext cx="10896600" cy="1092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400" b="1">
                <a:solidFill>
                  <a:srgbClr val="082F49"/>
                </a:solidFill>
                <a:latin typeface="Arial"/>
              </a:defRPr>
            </a:pPr>
            <a:r>
              <a:t>Des résultats mesurés, un périmètre précis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2070100"/>
            <a:ext cx="10795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435F72"/>
                </a:solidFill>
                <a:latin typeface="Arial"/>
              </a:defRPr>
            </a:pPr>
            <a:r>
              <a:t>Revue locale du 24 septembre — publication distincte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90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688 / 688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0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Tests unitaires réussis. Couverture : 95,00 % des lignes, 90,12 % des branches, 82,63 % des fonctions.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11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11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05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Tests complémentaires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05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192 intégrations réussies. Frontend : 81/81. Parcours navigateur public et administrateur réussis.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159500"/>
            <a:ext cx="10731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435F72"/>
                </a:solidFill>
                <a:latin typeface="Arial"/>
              </a:defRPr>
            </a:pPr>
            <a:r>
              <a:t>Projet étudiant · État documentaire au 24 septembre 2026 · Sources : étude de marché et 09_COUTS_PRODUCTION.md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42600" y="6464300"/>
            <a:ext cx="9525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55EE8"/>
                </a:solidFill>
                <a:latin typeface="Arial"/>
              </a:defRPr>
            </a:pPr>
            <a: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04800"/>
            <a:ext cx="3048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082F49"/>
                </a:solidFill>
                <a:latin typeface="Arial"/>
              </a:defRPr>
            </a:pPr>
            <a:r>
              <a:t>InfiMatch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5000" y="368300"/>
            <a:ext cx="33528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435F72"/>
                </a:solidFill>
                <a:latin typeface="Arial"/>
              </a:defRPr>
            </a:pPr>
            <a:r>
              <a:t>10 / LA QUALITÉ DE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016000"/>
            <a:ext cx="10896600" cy="1092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400" b="1">
                <a:solidFill>
                  <a:srgbClr val="082F49"/>
                </a:solidFill>
                <a:latin typeface="Arial"/>
              </a:defRPr>
            </a:pPr>
            <a:r>
              <a:t>Réduire les risques et les transferts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2070100"/>
            <a:ext cx="10795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435F72"/>
                </a:solidFill>
                <a:latin typeface="Arial"/>
              </a:defRPr>
            </a:pPr>
            <a:r>
              <a:t>Sécurité, accessibilité et sobriété : contrôles ciblés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90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Pratiques concrètes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0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Droits par rôle, chiffrement, MFA et secrets dans Vault. Navigation clavier, structure sémantique et corrections ciblées.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11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11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05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Sobriété mesurée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05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Requêtes de matching regroupées ; scan compact des offres puis chargement des seuls détails retenus.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159500"/>
            <a:ext cx="10731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435F72"/>
                </a:solidFill>
                <a:latin typeface="Arial"/>
              </a:defRPr>
            </a:pPr>
            <a:r>
              <a:t>Projet étudiant · État documentaire au 24 septembre 2026 · Sources : étude de marché et 09_COUTS_PRODUCTION.md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42600" y="6464300"/>
            <a:ext cx="9525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55EE8"/>
                </a:solidFill>
                <a:latin typeface="Arial"/>
              </a:defRPr>
            </a:pPr>
            <a: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04800"/>
            <a:ext cx="3048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082F49"/>
                </a:solidFill>
                <a:latin typeface="Arial"/>
              </a:defRPr>
            </a:pPr>
            <a:r>
              <a:t>InfiMatch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5000" y="368300"/>
            <a:ext cx="33528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435F72"/>
                </a:solidFill>
                <a:latin typeface="Arial"/>
              </a:defRPr>
            </a:pPr>
            <a:r>
              <a:t>11 / LA CHARGE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016000"/>
            <a:ext cx="10896600" cy="1092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400" b="1">
                <a:solidFill>
                  <a:srgbClr val="082F49"/>
                </a:solidFill>
                <a:latin typeface="Arial"/>
              </a:defRPr>
            </a:pPr>
            <a:r>
              <a:t>396 heures déclarées, un coût explicite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2070100"/>
            <a:ext cx="10795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435F72"/>
                </a:solidFill>
                <a:latin typeface="Arial"/>
              </a:defRPr>
            </a:pPr>
            <a:r>
              <a:t>4 personnes • 11 jours • journée et travail du soir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90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Charge reconstituée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0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308 h de journée + 88 h le soir = environ 396 h. Capacité prévue à cinq : 385 h. Écart : +11 h. Répartition par fonctionnalité à compléter.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11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11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05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Réalisation et matériel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05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Travail brut : 8 920,88 EUR. Matériel amorti : 133,33 EUR. Avec charges estimées : 12 800,98 EUR. Achat des quatre postes : 8 000 EUR, distinct du coût imputé.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159500"/>
            <a:ext cx="10731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435F72"/>
                </a:solidFill>
                <a:latin typeface="Arial"/>
              </a:defRPr>
            </a:pPr>
            <a:r>
              <a:t>Projet étudiant · État documentaire au 24 septembre 2026 · Sources : étude de marché et 09_COUTS_PRODUCTION.md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42600" y="6464300"/>
            <a:ext cx="9525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55EE8"/>
                </a:solidFill>
                <a:latin typeface="Arial"/>
              </a:defRPr>
            </a:pPr>
            <a: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04800"/>
            <a:ext cx="3048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082F49"/>
                </a:solidFill>
                <a:latin typeface="Arial"/>
              </a:defRPr>
            </a:pPr>
            <a:r>
              <a:t>InfiMatch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5000" y="368300"/>
            <a:ext cx="33528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435F72"/>
                </a:solidFill>
                <a:latin typeface="Arial"/>
              </a:defRPr>
            </a:pPr>
            <a:r>
              <a:t>12 / EXPLOITATION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016000"/>
            <a:ext cx="10896600" cy="1092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400" b="1">
                <a:solidFill>
                  <a:srgbClr val="082F49"/>
                </a:solidFill>
                <a:latin typeface="Arial"/>
              </a:defRPr>
            </a:pPr>
            <a:r>
              <a:t>Le coût baisse avec les missions validées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2070100"/>
            <a:ext cx="10795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435F72"/>
                </a:solidFill>
                <a:latin typeface="Arial"/>
              </a:defRPr>
            </a:pPr>
            <a:r>
              <a:t>Budget prospectif • maintenance à temps plein • matériel inclus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90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5 265,30 EUR par mois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0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Maintenance : 4 851,67 EUR. Services : 265,07 EUR. Réserve : 53,01 EUR. Matériel amorti : 55,56 EUR. Connexion et énergie : 40 EUR.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11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11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05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Coût moyen par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05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100 missions/mois : 52,65 EUR. 500 missions/mois : 10,53 EUR. 1 000 missions/mois : 5,27 EUR. Hors dépassements et temps du recruteur.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159500"/>
            <a:ext cx="10731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435F72"/>
                </a:solidFill>
                <a:latin typeface="Arial"/>
              </a:defRPr>
            </a:pPr>
            <a:r>
              <a:t>Projet étudiant · État documentaire au 24 septembre 2026 · Sources : étude de marché et 09_COUTS_PRODUCTION.md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42600" y="6464300"/>
            <a:ext cx="9525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55EE8"/>
                </a:solidFill>
                <a:latin typeface="Arial"/>
              </a:defRPr>
            </a:pPr>
            <a: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04800"/>
            <a:ext cx="3048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082F49"/>
                </a:solidFill>
                <a:latin typeface="Arial"/>
              </a:defRPr>
            </a:pPr>
            <a:r>
              <a:t>InfiMatch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5000" y="368300"/>
            <a:ext cx="33528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435F72"/>
                </a:solidFill>
                <a:latin typeface="Arial"/>
              </a:defRPr>
            </a:pPr>
            <a:r>
              <a:t>13 / LA SUITE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016000"/>
            <a:ext cx="10896600" cy="1092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400" b="1">
                <a:solidFill>
                  <a:srgbClr val="082F49"/>
                </a:solidFill>
                <a:latin typeface="Arial"/>
              </a:defRPr>
            </a:pPr>
            <a:r>
              <a:t>Un POC démontrable, un pilote à valider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2070100"/>
            <a:ext cx="10795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435F72"/>
                </a:solidFill>
                <a:latin typeface="Arial"/>
              </a:defRPr>
            </a:pPr>
            <a:r>
              <a:t>Preuve technique disponible ; validation marché encore à mener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90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Livraison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0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Code, README, roadmap, exports n8n, script FINESS, étude sourcée, classeur et support oral.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11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11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05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Prochaines étapes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05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Ventiler les 396 h. Tester le besoin sur le terrain. Suivre PostGIS avec Supabase et le DNS local. Préparer un pilote limité.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159500"/>
            <a:ext cx="10731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435F72"/>
                </a:solidFill>
                <a:latin typeface="Arial"/>
              </a:defRPr>
            </a:pPr>
            <a:r>
              <a:t>Projet étudiant · État documentaire au 24 septembre 2026 · Sources : étude de marché et 09_COUTS_PRODUCTION.md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42600" y="6464300"/>
            <a:ext cx="9525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55EE8"/>
                </a:solidFill>
                <a:latin typeface="Arial"/>
              </a:defRPr>
            </a:pPr>
            <a: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InfiMatch — Soutenance</dc:title>
  <dc:subject>Projet étudiant, instantané du 24 septembre 2026</dc:subject>
  <dc:creator>Équipe InfiMatch</dc:creator>
  <cp:keywords>InfiMatch, Epitech, soutenance, preuves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