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- 45 secondes.</a:t>
            </a:r>
          </a:p>
          <a:p>
            <a:r>
              <a:t>Ouvrir par une situation illustrative, sans la présenter comme un entretien réel. Annoncer le fil : problème, solution, démonstration, preuves et limites. InfiMatch ne remplace pas l’employeur.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- 60 secondes.</a:t>
            </a:r>
          </a:p>
          <a:p>
            <a:r>
              <a:t>Source : DREES, Études et Résultats 1319, décembre 2024. https://www.drees.solidarites-sante.gouv.fr/sites/default/files/2024-12/ER1319_0.pdf . Ce chiffre ne mesure ni les intérimaires ni les clients adressables. Les irritants de coordination sont des hypothèses à valider.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A - 60 secondes.</a:t>
            </a:r>
          </a:p>
          <a:p>
            <a:r>
              <a:t>Sources primaires : https://hublo.com/fr ; https://www.appelmedical.com/ ; https://www.staffsante.fr/ . Lecture des offres publiques au 23/09/2026, pas audit concurrent. Ne pas affirmer qu’ils n’ont pas une fonction. Abonnement B2B et accès candidat gratuit restent des hypothèses.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C - 60 secondes.</a:t>
            </a:r>
          </a:p>
          <a:p>
            <a:r>
              <a:t>Présenter brièvement les rôles et les contrôles d’accès. Souligner que disponibilité, qualification et décision sont distinctes. Le mode RPPS facultatif est réservé à la démonstration configurée.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C - 180 secondes.</a:t>
            </a:r>
          </a:p>
          <a:p>
            <a:r>
              <a:t>Répéter sur l’environnement de démonstration. Ne pas notifier un utilisateur réel. Garder des onglets préparés. Si le service est indisponible : expliquer l’incident et montrer les preuves datées ainsi que le rendu Discord, sans prétendre à une exécution en direct réussie.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- 75 secondes.</a:t>
            </a:r>
          </a:p>
          <a:p>
            <a:r>
              <a:t>Décrire le chemin d’une candidature dans l’API et la base relationnelle, puis l’événement d’automatisation. Montrer le README et expliquer les profils d’accès. Une base non relationnelle a un usage complémentaire explicite.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- 75 secondes.</a:t>
            </a:r>
          </a:p>
          <a:p>
            <a:r>
              <a:t>Source ANS, https://www.data.gouv.fr/datasets/finess-structures-1 ; Licence Ouverte 2.0. Montrer demonstration-finess-resultat.json. La fixture pédagogique est synthétique ; le téléchargement réel est disponible via npm run finess:import. Ne pas confondre cet exemple et un extrait réellement téléchargé.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B - 60 secondes.</a:t>
            </a:r>
          </a:p>
          <a:p>
            <a:r>
              <a:t>Montrer un JSON et son manifeste. Expliquer qu’un statut actif n’est pas une preuve de réception. Le nœud de reprise porte un ancien nom « 30 minutes » mais son paramètre vaut quatre heures. Les tests isolés ne sont pas des exécutions Cloud.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- 60 secondes.</a:t>
            </a:r>
          </a:p>
          <a:p>
            <a:r>
              <a:t>Preuves : docs/proofs/discord-notifications-20260923/ . Distinguer réussite des tests et couverture. Les résultats frontend sont antérieurs, non relancés pour le changement Discord. Ce n’est pas une certification de sécurité ou une garantie sans bugs.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- 75 secondes.</a:t>
            </a:r>
          </a:p>
          <a:p>
            <a:r>
              <a:t>Références : docs/quality/OPTIMISATION_MATCHING_2026-09-20.md et CORRECTIONS_AUDIT_2026-09-23.md. Le gain de volume JSON mesuré sur un cas n’est pas une mesure de CO2 ni une facture réseau. Ne pas revendiquer de conformité globale RGAA/RGESN. Les PDF ne sont pas des contrats complets signés.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- 75 secondes.</a:t>
            </a:r>
          </a:p>
          <a:p>
            <a:r>
              <a:t>Ne pas présenter les durées d’agent comme du travail humain. Quatre personnes, onze jours, six heures productives hypothétiques donnent 264 h : l’écart doit être expliqué par le réel, pas masqué. La validation du CDC à J+2 reste à joindre.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Intervenant D - 75 secondes.</a:t>
            </a:r>
          </a:p>
          <a:p>
            <a:r>
              <a:t>Conclure sur la proposition de valeur, puis ouvrir les questions. Les entretiens et partenariats ne sont pas acquis. Supabase/PostGIS attend le support ; DNS local inchangé. Le coffre local a été réparé. Montrer que les réserves sont connues et suivies.</a:t>
            </a:r>
          </a:p>
          <a:p>
            <a:r>
              <a:t>Voir 05_ETUDE_DE_MARCHE.md pour les sources et 07_PITCH_ORAL.md pour le scénario de secours.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01 / LE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Une mission compatible, une décision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InfiMatch • POC étudiant • Trois acteurs, un suivi partagé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Une situation concrète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Un établissement cherche un infirmier disponible. Le candidat doit comprendre la mission et savoir où en est sa candidature.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Notre réponse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Relier infirmier, établissement et agence, de la recherche à la confirmation d’affectation.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02 / LE SECTEUR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besoin de coordination dans la santé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Un repère historique documenté, pas une taille de marché inventée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599 000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Infirmières en emploi en 2021 selon la DREES. L’étude décrit des difficultés de recrutement.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Notre cible initiale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Infirmiers IDE, IADE et IBODE ; établissements de santé ; agences spécialisées. Pilote local à construire.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03 / LE 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Le marché existe déjà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Différenciation proposée : explication et coordination entre trois acteurs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Acteurs observés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Hublo : RH et remplacements. Appel Médical : recrutement spécialisé. Staffsanté : offres et candidatures.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Hypothèse de valeur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Une recommandation compréhensible et un état de candidature explicite, jusqu’à la décision humaine.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04 / LE PRODUIT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parcours métier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La candidature ne vaut jamais affectation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Côté infirmier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Profil, disponibilités et zone. Recherche et explications du matching. Candidature, calendrier et documents.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Côté entreprise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Publication, suivi des candidatures, sélection et confirmation. L’agence conserve la décision d’affectation.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05 / DÉMONSTRATION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Du besoin à la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Trois minutes • Comptes et mission fictifs préparés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Parcours candidat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1. Ouvrir une mission. 2. Montrer les critères et le profil. 3. Candidater et constater l’état en attente.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Parcours recruteur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4. Retrouver la candidature. 5. Confirmer dans l’environnement de test. 6. Montrer calendrier, PDF et notification.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06 / LA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responsabilités séparées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Frontend et administration → API → données et orchestrations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React / TypeScript ; API NestJS. PostgreSQL / PostGIS pour les états et la géographie ; MongoDB pour les explications.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n8n coordonne les appels. Les règles métier et permissions restent côté backend. Les secrets ne sont pas dans le dépôt.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07 / LES DONNÉES PUBLIQUES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FINESS devient une donnée utile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Télécharger → contrôler → normaliser → rechercher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Transformation réelle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Identifiants et zéros conservés ; textes nettoyés ; doublons rejetés ; coordonnées ambiguës laissées vides.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Usage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Recherche d’établissements dans les parcours entreprise. Script avant/après livré, fonction identique à celle du backend.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08 / LE NOCODE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scénarios exportés et traçables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Neuf versions publiées observées le 23 septembre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Deux scénarios à défendre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Matching → notification. Affectation confirmée → génération documentaire. Les rappels assurent une reprise.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Import reproductible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JSON avec provenance et versions ; credentials à réassocier. Les exports Cloud et les modèles de recette sont distingués.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09 / LA QUALITÉ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Des résultats mesurés, un périmètre précis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Dernière campagne unitaire backend du 23 septembre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660 / 660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Tests unitaires réussis. Couverture : 95,11 % des lignes, 89,98 % des branches, 82,41 % des fonctions.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Tests complémentaires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11 intégrations notifications réussies. Régressions SQL réussies. Frontend : 81/81 dans la campagne antérieure.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10 / LA QUALITÉ DE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Réduire les risques et les transferts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Sécurité, accessibilité et sobriété : contrôles ciblés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Pratiques concrètes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Droits par rôle, chiffrement, MFA et secrets dans Vault. Navigation clavier, structure sémantique et corrections ciblées.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Sobriété mesurée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Requêtes de matching regroupées ; scan compact des offres puis chargement des seuls détails retenus.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11 / LA CHARGE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Confronter le prévu au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Quatre personnes • Onze jours • Dix-huit lots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Estimation conservée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348 à 528 heures-personnes. 438 h est le centre calculé, pas une nouvelle estimation validée à J+2.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Réalisé à documenter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Le relevé humain est vide. Le classeur calcule les écarts après saisie des heures et justificatifs.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082F49"/>
                </a:solidFill>
                <a:latin typeface="Arial"/>
              </a:defRPr>
            </a:pPr>
            <a:r>
              <a:t>InfiMatch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0" y="368300"/>
            <a:ext cx="3352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435F72"/>
                </a:solidFill>
                <a:latin typeface="Arial"/>
              </a:defRPr>
            </a:pPr>
            <a:r>
              <a:t>12 /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6000"/>
            <a:ext cx="10896600" cy="109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082F49"/>
                </a:solidFill>
                <a:latin typeface="Arial"/>
              </a:defRPr>
            </a:pPr>
            <a:r>
              <a:t>Un POC démontrable, un pilote à valider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070100"/>
            <a:ext cx="10795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600" b="0">
                <a:solidFill>
                  <a:srgbClr val="435F72"/>
                </a:solidFill>
                <a:latin typeface="Arial"/>
              </a:defRPr>
            </a:pPr>
            <a:r>
              <a:t>Preuve technique disponible ; validation marché encore à mener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Livraison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Code, README, roadmap, exports n8n, script FINESS, étude sourcée, classeur et support oral.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1100" y="2692400"/>
            <a:ext cx="5321300" cy="307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1100" y="2692400"/>
            <a:ext cx="5321300" cy="50800"/>
          </a:xfrm>
          <a:prstGeom prst="rect">
            <a:avLst/>
          </a:prstGeom>
          <a:solidFill>
            <a:srgbClr val="155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0500" y="2984500"/>
            <a:ext cx="4762500" cy="673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082F49"/>
                </a:solidFill>
                <a:latin typeface="Arial"/>
              </a:defRPr>
            </a:pPr>
            <a:r>
              <a:t>Prochaines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3733800"/>
            <a:ext cx="4762500" cy="1816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163B50"/>
                </a:solidFill>
                <a:latin typeface="Arial"/>
              </a:defRPr>
            </a:pPr>
            <a:r>
              <a:t>Renseigner les temps. Tester le besoin sur le terrain. Suivre PostGIS avec Supabase et le DNS local. Préparer un pilote limité.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595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435F72"/>
                </a:solidFill>
                <a:latin typeface="Arial"/>
              </a:defRPr>
            </a:pPr>
            <a:r>
              <a:t>Projet étudiant · État documentaire au 23 septembre 2026 · Réserves et sources : 05_ETUDE_DE_MARCHE.md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2600" y="6464300"/>
            <a:ext cx="9525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1">
                <a:solidFill>
                  <a:srgbClr val="155EE8"/>
                </a:solidFill>
                <a:latin typeface="Arial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InfiMatch — Soutenance</dc:title>
  <dc:subject>Projet étudiant, instantané du 23 septembre 2026</dc:subject>
  <dc:creator>Équipe InfiMatch</dc:creator>
  <cp:keywords>InfiMatch, Epitech, soutenance, preuves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